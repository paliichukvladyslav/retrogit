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13"/>
  </p:notesMasterIdLst>
  <p:sldIdLst>
    <p:sldId id="256" r:id="rId3"/>
    <p:sldId id="267" r:id="rId4"/>
    <p:sldId id="258" r:id="rId5"/>
    <p:sldId id="259" r:id="rId6"/>
    <p:sldId id="260" r:id="rId7"/>
    <p:sldId id="261" r:id="rId8"/>
    <p:sldId id="262" r:id="rId9"/>
    <p:sldId id="268" r:id="rId10"/>
    <p:sldId id="264" r:id="rId11"/>
    <p:sldId id="270" r:id="rId12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975BA-A2BB-437A-ABF8-CDD9F4F9D61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20C8-09A0-425A-B2B9-0AE6AC258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4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і об’є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6962"/>
            <a:ext cx="12192000" cy="681355"/>
          </a:xfrm>
          <a:custGeom>
            <a:avLst/>
            <a:gdLst/>
            <a:ahLst/>
            <a:cxnLst/>
            <a:rect l="l" t="t" r="r" b="b"/>
            <a:pathLst>
              <a:path w="12192000" h="681354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" y="117594"/>
            <a:ext cx="924520" cy="1350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52982"/>
            <a:ext cx="10801421" cy="284734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 dirty="0"/>
              <a:t>Зразок заголовка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145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34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81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065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9386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1510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730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581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237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86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33413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01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ln w="9525">
            <a:solidFill>
              <a:srgbClr val="1C3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ln w="9525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04" y="55999"/>
            <a:ext cx="731591" cy="106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36593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liichukvladyslav/RetroGit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aliichuk.vladyslav@lll.kpi.u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287" y="2226023"/>
            <a:ext cx="11661913" cy="4124206"/>
          </a:xfrm>
        </p:spPr>
        <p:txBody>
          <a:bodyPr/>
          <a:lstStyle/>
          <a:p>
            <a:br>
              <a:rPr lang="uk-UA" sz="4000" b="1" noProof="1"/>
            </a:br>
            <a:br>
              <a:rPr lang="uk-UA" sz="4000" b="1" noProof="1"/>
            </a:br>
            <a:r>
              <a:rPr lang="uk-UA" sz="4000" b="1" noProof="1"/>
              <a:t>Сервіс системи контролю версій</a:t>
            </a:r>
            <a:br>
              <a:rPr lang="uk-UA" sz="4000" b="1" noProof="1"/>
            </a:br>
            <a:r>
              <a:rPr lang="uk-UA" sz="3200" u="sng" noProof="1"/>
              <a:t>Виконав:</a:t>
            </a:r>
            <a:r>
              <a:rPr lang="uk-UA" sz="3200" noProof="1"/>
              <a:t> Палійчук Владислав Вікторович ТВ-43</a:t>
            </a:r>
            <a:br>
              <a:rPr lang="uk-UA" sz="3200" noProof="1"/>
            </a:br>
            <a:r>
              <a:rPr lang="uk-UA" sz="3200" u="sng" noProof="1"/>
              <a:t>Перевірив:</a:t>
            </a:r>
            <a:r>
              <a:rPr lang="uk-UA" sz="4000" noProof="1"/>
              <a:t> </a:t>
            </a:r>
            <a:r>
              <a:rPr lang="uk-UA" sz="3200" noProof="1"/>
              <a:t>Голець В. О., Недашківський О. Л.</a:t>
            </a:r>
            <a:br>
              <a:rPr lang="uk-UA" sz="3200" noProof="1"/>
            </a:br>
            <a:r>
              <a:rPr lang="uk-UA" sz="1200" noProof="1"/>
              <a:t>GitHub репозиторій </a:t>
            </a:r>
            <a:r>
              <a:rPr lang="uk-UA" sz="1200" noProof="1">
                <a:hlinkClick r:id="rId2"/>
              </a:rPr>
              <a:t>https://github.com/paliichukvladyslav/RetroGit/</a:t>
            </a:r>
            <a:br>
              <a:rPr lang="uk-UA" sz="3200" noProof="1">
                <a:hlinkClick r:id="rId2"/>
              </a:rPr>
            </a:br>
            <a:br>
              <a:rPr lang="uk-UA" sz="3200" noProof="1"/>
            </a:br>
            <a:r>
              <a:rPr lang="uk-UA" sz="3200" noProof="1"/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noProof="1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noProof="1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noProof="1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88" y="1170603"/>
            <a:ext cx="11661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noProof="1">
                <a:solidFill>
                  <a:srgbClr val="002060"/>
                </a:solidFill>
              </a:rPr>
              <a:t>Навчально-науковий інститут атомної та теплової енергетики</a:t>
            </a:r>
          </a:p>
          <a:p>
            <a:pPr algn="ctr"/>
            <a:r>
              <a:rPr lang="uk-UA" sz="3200" noProof="1">
                <a:solidFill>
                  <a:srgbClr val="002060"/>
                </a:solidFill>
              </a:rPr>
              <a:t>Кафедра інженерії програмного забезпечення в енергетиці</a:t>
            </a:r>
          </a:p>
          <a:p>
            <a:pPr algn="ctr"/>
            <a:r>
              <a:rPr lang="uk-UA" sz="3200" b="1" noProof="1">
                <a:solidFill>
                  <a:srgbClr val="002060"/>
                </a:solidFill>
              </a:rPr>
              <a:t>Основи Веб-програмування. Курсова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noProof="1">
                <a:solidFill>
                  <a:schemeClr val="bg1"/>
                </a:solidFill>
              </a:rPr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7688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838575"/>
            <a:ext cx="5238750" cy="155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Актуальність теми та постановка задачі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191875" y="6505575"/>
            <a:ext cx="65468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2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66750" y="1743075"/>
            <a:ext cx="5238750" cy="197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Сучасна індустрія розробки ПЗ страждає від проблеми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Bloatware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- надмірної функціональної та архітектурної складності. Популярні клієнти Git (GitHub Desktop, GitKraken) базуються на Electron, що призводить до невиправдано високого споживання ресурсів навіть для тривіальних операцій перегляду коду.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286500" y="1743075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Основні задачі дослідження: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4210050"/>
            <a:ext cx="48006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Мета роботи: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Проєктування та розробка легкого, швидкого локального веб-сервісу для візуалізації Git-репозиторіїв з використанням SSR-архітектури.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372225" y="2159199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477000" y="2161580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Аналіз архітектурних недоліків SPA-рішень (React/Vue) у контексті систем контролю версій.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372225" y="289738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477000" y="289976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Розробка механізму прямої взаємодії з Git CLI через підпроцеси ОС Rust.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372225" y="360878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477000" y="3611165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Реалізація динамічного інтерфейсу без важких клієнтських фреймворків за допомогою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HTMX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372225" y="435625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477000" y="4358633"/>
            <a:ext cx="50482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Створення системи візуальних тем для покращення ергономіки та фокусування розробника.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28937"/>
            <a:ext cx="5238750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28937"/>
            <a:ext cx="5238750" cy="1709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Аналіз предметної області: SSR vs SPA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66750" y="1743075"/>
            <a:ext cx="108585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Типовий підхід до розробки веб-інструментів сьогодні базується на SPA (Single Page Application) архітектурі. Проте, аналіз показує, що для систем перегляду коду цей шлях є тупиковим через великі накладні витрати на передачу JSON та подальшу «гідратацію» на клієнті.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66750" y="5114925"/>
            <a:ext cx="10858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1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Промислове підтвердження:</a:t>
            </a:r>
            <a:r>
              <a:rPr kumimoji="0" lang="uk-UA" sz="1425" b="0" i="1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Навіть GitHub використовує аналогічну ідеологію (Turbo/PJAX), віддаючи перевагу SSR для досягнення максимальної швидкості відгуку при роботі з великими кодовими базами.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66750" y="4924425"/>
            <a:ext cx="10858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1191875" y="6505575"/>
            <a:ext cx="53276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3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57250" y="3119437"/>
            <a:ext cx="51006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04" b="1" i="0" u="none" strike="noStrike" kern="0" cap="none" spc="0" normalizeH="0" baseline="0" noProof="1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Проблеми React/SPA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57250" y="3557587"/>
            <a:ext cx="48577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27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Високий «час до інтерактивності» (TTI), складне керування станом, залежність від клієнтських обчислювальних потужностей та роздутість JavaScript бандлів.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477000" y="3119437"/>
            <a:ext cx="51006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04" b="1" i="0" u="none" strike="noStrike" kern="0" cap="none" spc="0" normalizeH="0" baseline="0" noProof="1">
                <a:ln>
                  <a:noFill/>
                </a:ln>
                <a:solidFill>
                  <a:srgbClr val="2F855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Рішення RetroGit (SSR + HTMX)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477000" y="3557587"/>
            <a:ext cx="48577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27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Передача готових HTML-фрагментів, миттєве відображення, відсутність потреби в JS-бізнес-логіці на клієнті та ідеологічна відповідність патернам </a:t>
            </a:r>
            <a:r>
              <a:rPr kumimoji="0" lang="uk-UA" sz="127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PJAX/Turbo</a:t>
            </a:r>
            <a:r>
              <a:rPr kumimoji="0" lang="uk-UA" sz="127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662363"/>
            <a:ext cx="52387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Проєктування та системні вимоги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1191875" y="6505576"/>
            <a:ext cx="5937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4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66750" y="1743075"/>
            <a:ext cx="52387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Архітектура RetroGit побудована на принципі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неблокуючого вводу-виводу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 Використання екосистеми Tokio дозволяє серверу ефективно очікувати відповідь від системної утиліти Git, не зупиняючи обробку інших запитів. Це критично для паралельної роботи багатьох користувачів.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16"/>
          <p:cNvGraphicFramePr/>
          <p:nvPr>
            <p:extLst>
              <p:ext uri="{D42A27DB-BD31-4B8C-83A1-F6EECF244321}">
                <p14:modId xmlns:p14="http://schemas.microsoft.com/office/powerpoint/2010/main" val="653458678"/>
              </p:ext>
            </p:extLst>
          </p:nvPr>
        </p:nvGraphicFramePr>
        <p:xfrm>
          <a:off x="6286500" y="1657350"/>
          <a:ext cx="5238725" cy="27813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1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350" b="1" i="0" u="none" strike="noStrike" cap="none" noProof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Характеристика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25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350" b="1" i="0" u="none" strike="noStrike" cap="none" noProof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Цільовий показник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25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Мова програмування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Rust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Веб-фреймворк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Axum (Async core)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Споживання RAM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5 МБ (Benchmark: 3.4</a:t>
                      </a:r>
                      <a:r>
                        <a:rPr lang="ru-RU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МБ</a:t>
                      </a: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Час відповіді (TTFB)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15 мс (Localhost)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Залежності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noProof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Zero-runtime JS, Git-core CLI</a:t>
                      </a:r>
                      <a:endParaRPr lang="uk-UA" noProof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" name="Google Shape;151;p16"/>
          <p:cNvSpPr txBox="1"/>
          <p:nvPr/>
        </p:nvSpPr>
        <p:spPr>
          <a:xfrm>
            <a:off x="914400" y="4033838"/>
            <a:ext cx="48006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Функціональні вимоги: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Ініціалізація репозиторіїв, рендеринг Markdown (README), деревоподібна навігація файлами, перегляд логів коммітів та аватарів профілів через API.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286500" y="2557462"/>
            <a:ext cx="2312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599437" y="2557462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86500" y="3024187"/>
            <a:ext cx="2312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599437" y="3024187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86500" y="3490912"/>
            <a:ext cx="2312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8599437" y="3490912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286500" y="3957637"/>
            <a:ext cx="2312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599437" y="3957637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286500" y="4424362"/>
            <a:ext cx="2312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599437" y="4424362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Математична модель та алгоритмічна логіка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1191875" y="6505575"/>
            <a:ext cx="6411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5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66750" y="3376463"/>
            <a:ext cx="5659933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Модель сумарного часу обробки запиту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707683" y="1743075"/>
            <a:ext cx="4817566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Оптимізація алгоритмів: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86198"/>
            <a:ext cx="5659933" cy="49976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793408" y="219313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898183" y="2149370"/>
            <a:ext cx="4627066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Парсинг Git-дерева: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Реалізовано за лінійний час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O(N)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, де N - кількість об’єктів у теці. Це гарантує стабільність навіть для великих репозиторіїв.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793408" y="334618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898183" y="3260222"/>
            <a:ext cx="4627066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Lazy Loading: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Система не завантажує весь репозиторій у пам’ять. Метадані (логі, дерева) зчитуються утилітою Git виключно в момент запиту конкретного маршруту.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6793408" y="471725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898183" y="4719638"/>
            <a:ext cx="462706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Markdown Rendering: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Використання потокового парсера pulldown-cmark для безпечного перетворення розмітки в HTML.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752725"/>
            <a:ext cx="52387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52725"/>
            <a:ext cx="52387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Програмна реалізація: Стек розробки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66750" y="1743075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Для реалізації обрано стек, що фокусується на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Memory Safety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та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Type Safety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 Це дозволяє усунути цілий клас вразливостей ще на етапі компіляції проєкту.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66750" y="4791075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Результат: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Отримано єдиний портативний бінарний файл, готовий до запуску в Gentoo/Linux середовищі без встановлення додаткових інтерпретаторів чи бібліотек.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1191875" y="6505575"/>
            <a:ext cx="5666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6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914400" y="2943225"/>
            <a:ext cx="50406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04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Backend: Rust + Axum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914400" y="3371850"/>
            <a:ext cx="4800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200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Використання Rust забезпечує продуктивність рівня мови C++ без небезпек ручного керування пам’яттю. Axum надає зручну маршрутизацію та Middleware для безпеки (Path Normalization).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534150" y="2943225"/>
            <a:ext cx="50406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04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Frontend: Askama + HTMX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534150" y="3371850"/>
            <a:ext cx="480060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200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Askama компілює шаблони безпосередньо у бінарний файл, гарантуючи коректність типів. HTMX забезпечує фрагментарне оновлення сторінок через атрибути hx-post та hx-target.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62100"/>
            <a:ext cx="523875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Взаємодія з ядром Git та обробка даних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11191875" y="6505575"/>
            <a:ext cx="60727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7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66750" y="1743075"/>
            <a:ext cx="523875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Ключова особливість RetroGit </a:t>
            </a:r>
            <a:r>
              <a:rPr kumimoji="0" lang="en-US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-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відмова від сторонніх бібліотек типу libgit2. Це зроблено для забезпечення максимальної портативності та прозорості роботи системи.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66750" y="2747962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Механізм роботи: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524625" y="1981200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// Приклад безпечного виклику CLI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524625" y="2433637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let output = Command::new(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"git"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)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6524625" y="2886075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  .current_dir(repo_path)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6524625" y="3338513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  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.args([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"ls-tree"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,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 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"HEAD"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])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6524625" y="3790950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  .output()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6524625" y="4243387"/>
            <a:ext cx="47625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  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.expect(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"CLI failure"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Arial"/>
                <a:sym typeface="Arial"/>
              </a:rPr>
              <a:t>);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752475" y="324564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857250" y="3193255"/>
            <a:ext cx="5048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Сервер ініціює дочірній процес через std::process::Command.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752475" y="39219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57250" y="3893342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Параметри команд жорстко валідуються для запобігання Shell Injection.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752475" y="458628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857250" y="4561828"/>
            <a:ext cx="50482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Стандартний потік виводу (stdout) парситься кастомними парсерами у структури GitFile та CommitLog.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0" y="1581323"/>
            <a:ext cx="2571750" cy="142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0" y="1581323"/>
            <a:ext cx="2565434" cy="1442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 rotWithShape="1"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0" y="3595687"/>
            <a:ext cx="2571750" cy="1414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 rotWithShape="1">
          <a:blip r:embed="rId7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5420" y="3611172"/>
            <a:ext cx="2571750" cy="79294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Користувацький інтерфейс та дизайн-система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1191875" y="6505575"/>
            <a:ext cx="333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8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66750" y="1562100"/>
            <a:ext cx="52387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Вибір ретро-стилістики (Win 98/XP/7) є не суто візуальним рішенням, а стратегією зниження </a:t>
            </a: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когнітивного навантаження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 Чіткі межі вікон, відсутність анімацій та ієрархічна структура допомагають розробнику зосередитись на коді.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6750" y="3281362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Використані технології фронтенду: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752475" y="37314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57250" y="369212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XP.css / 98.css: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Готові CSS-фреймворки для емуляції нативних елементів керування.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752475" y="440888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857250" y="4381500"/>
            <a:ext cx="5048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Dynamic Themes: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Клієнтський скрипт змінює атрибути href таблиць стилів на льоту, зберігаючи стан у LocalStorage.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752475" y="543758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857250" y="5439965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HTMX Fragments: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Частковий рендеринг списків користувачів при створенні нових профілів.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750" y="1562100"/>
            <a:ext cx="1085850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229100"/>
            <a:ext cx="1085850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Тестування та порівняльна характеристика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66750" y="1743075"/>
            <a:ext cx="10858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Було проведено навантажувальне тестування сервісу при роботі з репозиторіями об’ємом понад 1 ГБ та історією у 5000+ коммітів. Результати підтвердили стабільність споживання пам’яті.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1191875" y="6505575"/>
            <a:ext cx="333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9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914400" y="4600575"/>
            <a:ext cx="104203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Висновки тестування: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RetroGit споживає у 15-40 разів менше пам’яті за аналоги. Час генерації сторінки (Latency) становить менше 12 мс, що робить взаємодію суб’єктивно </a:t>
            </a:r>
            <a:r>
              <a:rPr lang="ru-RU" sz="1425" noProof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«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миттєвою».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400800"/>
            <a:ext cx="10858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2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6675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85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Висновки та результати роботи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66750" y="12573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uk-UA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66750" y="1743075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У ході виконання курсової роботи було спроєктовано та успішно реалізовано локальний сервіс контролю версій RetroGit. Проєкт довів свою життєздатність як високоефективна альтернатива сучасним важким GUI-клієнтам.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11115675" y="6505575"/>
            <a:ext cx="62928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050" b="0" i="0" u="none" strike="noStrike" kern="0" cap="none" spc="0" normalizeH="0" baseline="0" noProof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10 / 10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95287" y="516255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2400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Дякую за увагу!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66750" y="5810250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  <a:hlinkClick r:id="rId4"/>
              </a:rPr>
              <a:t>paliichuk.vladyslav@lll.kpi.ua</a:t>
            </a:r>
            <a:r>
              <a:rPr kumimoji="0" lang="en-US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</a:t>
            </a:r>
            <a:r>
              <a:rPr kumimoji="0" lang="uk-UA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| github.com/paliichukvladyslav/</a:t>
            </a:r>
            <a:r>
              <a:rPr kumimoji="0" lang="en-US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R</a:t>
            </a:r>
            <a:r>
              <a:rPr kumimoji="0" lang="uk-UA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etro</a:t>
            </a:r>
            <a:r>
              <a:rPr kumimoji="0" lang="en-US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G</a:t>
            </a:r>
            <a:r>
              <a:rPr kumimoji="0" lang="uk-UA" sz="1500" b="1" i="0" u="none" strike="noStrike" kern="0" cap="none" spc="0" normalizeH="0" baseline="0" noProof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it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52475" y="27670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857250" y="2707250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Технічний успіх: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Доведено ефективність поєднання мови Rust та HTMX для побудови вебінструментарію реального часу.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752475" y="377227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857250" y="3719512"/>
            <a:ext cx="504825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Ресурсоефективність: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Досягнуто екстремально низьких показників споживання пам’яті (</a:t>
            </a:r>
            <a:r>
              <a:rPr kumimoji="0" lang="en-US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5 </a:t>
            </a:r>
            <a:r>
              <a:rPr kumimoji="0" lang="ru-RU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МБ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) без втрати функціональності.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6372225" y="27217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6477000" y="2621941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Ергономіка: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Реалізовано унікальний інтерфейс, що мінімізує JS-залежності та фокусує користувача на програмному коді.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6386300" y="377227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6477000" y="3719512"/>
            <a:ext cx="5048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uk-UA" sz="1425" b="1" i="0" u="none" strike="noStrike" kern="0" cap="none" spc="0" normalizeH="0" baseline="0" noProof="1">
                <a:ln>
                  <a:noFill/>
                </a:ln>
                <a:solidFill>
                  <a:srgbClr val="082567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Перспективи:</a:t>
            </a:r>
            <a:r>
              <a:rPr kumimoji="0" lang="uk-UA" sz="1425" b="0" i="0" u="none" strike="noStrike" kern="0" cap="none" spc="0" normalizeH="0" baseline="0" noProof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Подальший розвиток передбачає підтримку операцій commit та push безпосередньо через вебінтерфейс.</a:t>
            </a:r>
            <a:endParaRPr kumimoji="0" lang="uk-UA" sz="14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4">
  <a:themeElements>
    <a:clrScheme name="Офі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іс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4" id="{462375DE-8928-429B-B01E-09E2FDA995FC}" vid="{78FACF3B-D61D-4CDD-A381-200BC8A053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Тема4</Template>
  <TotalTime>174</TotalTime>
  <Words>1046</Words>
  <Application>Microsoft Office PowerPoint</Application>
  <PresentationFormat>Widescreen</PresentationFormat>
  <Paragraphs>106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Consolas</vt:lpstr>
      <vt:lpstr>Lato</vt:lpstr>
      <vt:lpstr>Poppins</vt:lpstr>
      <vt:lpstr>Tahoma</vt:lpstr>
      <vt:lpstr>Тема4</vt:lpstr>
      <vt:lpstr>Office Theme</vt:lpstr>
      <vt:lpstr>  Сервіс системи контролю версій Виконав: Палійчук Владислав Вікторович ТВ-43 Перевірив: Голець В. О., Недашківський О. Л. GitHub репозиторій https://github.com/paliichukvladyslav/RetroGit/ 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роботи  ПІБ студента, група ПІБ наукового керівника, посада  Рік захисту</dc:title>
  <dc:creator>Olha Zalevska</dc:creator>
  <cp:lastModifiedBy>Vlad</cp:lastModifiedBy>
  <cp:revision>18</cp:revision>
  <dcterms:created xsi:type="dcterms:W3CDTF">2024-05-18T16:47:00Z</dcterms:created>
  <dcterms:modified xsi:type="dcterms:W3CDTF">2026-05-20T23:20:47Z</dcterms:modified>
</cp:coreProperties>
</file>